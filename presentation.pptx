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Parallel Cloud Gaming Resource Management System</a:t>
            </a:r>
          </a:p>
          <a:p>
            <a:pPr>
              <a:spcBef>
                <a:spcPts val="1200"/>
              </a:spcBef>
              <a:defRPr sz="2200">
                <a:solidFill>
                  <a:srgbClr val="3182CE"/>
                </a:solidFill>
              </a:defRPr>
            </a:pPr>
            <a:r>
              <a:t>High-Performance Discrete-Event Scheduling Using C, OpenMP, and MPI</a:t>
            </a:r>
          </a:p>
          <a:p>
            <a:br/>
            <a:pPr>
              <a:spcBef>
                <a:spcPts val="2000"/>
              </a:spcBef>
              <a:defRPr sz="1400">
                <a:solidFill>
                  <a:srgbClr val="E2E8F0"/>
                </a:solidFill>
              </a:defRPr>
            </a:pPr>
            <a:r>
              <a:t>Course: Parallel Computing Architecture Programming (PCAP) Lab Mini Project</a:t>
            </a:r>
            <a:br/>
            <a:r>
              <a:t>Target Machine: Apple Silicon Multi-Core Architecture (macOS)</a:t>
            </a:r>
            <a:br/>
            <a:r>
              <a:t>Deliverables: Sequential, OpenMP, MPI, Hybrid Backends &amp; Research Reports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182CE"/>
                </a:solidFill>
              </a:defRPr>
            </a:pPr>
            <a:r>
              <a:t>PARALLEL COMPUTING ARCHITECTURE PROGRAMMING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Introduction &amp;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400"/>
              </a:spcBef>
              <a:defRPr b="1" sz="1500">
                <a:solidFill>
                  <a:srgbClr val="1A365D"/>
                </a:solidFill>
              </a:defRPr>
            </a:pPr>
            <a:r>
              <a:t>•  Cloud Gaming Imperative: </a:t>
            </a:r>
            <a:r>
              <a:rPr b="0">
                <a:solidFill>
                  <a:srgbClr val="2D3748"/>
                </a:solidFill>
              </a:rPr>
              <a:t>Renders 3D graphics on remote edge-cloud servers and streams video to thin clients. Demands strict round-trip motion-to-photon latency under 50-100 ms to preserve QoE.</a:t>
            </a:r>
          </a:p>
          <a:p>
            <a:pPr>
              <a:spcBef>
                <a:spcPts val="1400"/>
              </a:spcBef>
              <a:defRPr b="1" sz="1500">
                <a:solidFill>
                  <a:srgbClr val="1A365D"/>
                </a:solidFill>
              </a:defRPr>
            </a:pPr>
            <a:r>
              <a:t>•  Multi-Dimensional Packing: </a:t>
            </a:r>
            <a:r>
              <a:rPr b="0">
                <a:solidFill>
                  <a:srgbClr val="2D3748"/>
                </a:solidFill>
              </a:rPr>
              <a:t>Incoming gaming sessions simultaneously constrain four physical hardware metrics: CPU cores, GPU rendering units, RAM capacity, and network streaming bandwidth.</a:t>
            </a:r>
          </a:p>
          <a:p>
            <a:pPr>
              <a:spcBef>
                <a:spcPts val="1400"/>
              </a:spcBef>
              <a:defRPr b="1" sz="1500">
                <a:solidFill>
                  <a:srgbClr val="1A365D"/>
                </a:solidFill>
              </a:defRPr>
            </a:pPr>
            <a:r>
              <a:t>•  The Scalability Bottleneck: </a:t>
            </a:r>
            <a:r>
              <a:rPr b="0">
                <a:solidFill>
                  <a:srgbClr val="2D3748"/>
                </a:solidFill>
              </a:rPr>
              <a:t>In large-scale geo-distributed edge environments with 1,000 to 10,000+ candidate servers, sequential feasibility checks and fitness scoring create severe admission delays during peak bursts.</a:t>
            </a:r>
          </a:p>
          <a:p>
            <a:pPr>
              <a:spcBef>
                <a:spcPts val="1400"/>
              </a:spcBef>
              <a:defRPr b="1" sz="1500">
                <a:solidFill>
                  <a:srgbClr val="1A365D"/>
                </a:solidFill>
              </a:defRPr>
            </a:pPr>
            <a:r>
              <a:t>•  Parallel Computing Solution: </a:t>
            </a:r>
            <a:r>
              <a:rPr b="0">
                <a:solidFill>
                  <a:srgbClr val="2D3748"/>
                </a:solidFill>
              </a:rPr>
              <a:t>Leveraging shared-memory threading (OpenMP), message-passing processes (MPI), and hybrid decomposition allows parallel exploration of candidate servers to achieve real-time response times.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182CE"/>
                </a:solidFill>
              </a:defRPr>
            </a:pPr>
            <a:r>
              <a:t>PARALLEL COMPUTING ARCHITECTURE PROGRAMMING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Problem Statement &amp; Project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1A365D"/>
                </a:solidFill>
              </a:defRPr>
            </a:pPr>
            <a:r>
              <a:t>Mathematical Problem Formulation:</a:t>
            </a:r>
          </a:p>
          <a:p>
            <a:pPr>
              <a:defRPr sz="1400">
                <a:solidFill>
                  <a:srgbClr val="2D3748"/>
                </a:solidFill>
              </a:defRPr>
            </a:pPr>
            <a:r>
              <a:t>Assign each dynamic request r to an eligible server s that minimizes composite score S = 0.5 * L + 0.5 * U, subject to:</a:t>
            </a:r>
          </a:p>
          <a:p>
            <a:pPr>
              <a:defRPr sz="1300">
                <a:solidFill>
                  <a:srgbClr val="3182CE"/>
                </a:solidFill>
              </a:defRPr>
            </a:pPr>
            <a:r>
              <a:t>    1. Capacity Constraints: Sum of active session demands &lt;= Total server capacity across CPU, GPU, RAM, Bandwidth.</a:t>
            </a:r>
          </a:p>
          <a:p>
            <a:pPr>
              <a:defRPr sz="1300">
                <a:solidFill>
                  <a:srgbClr val="3182CE"/>
                </a:solidFill>
              </a:defRPr>
            </a:pPr>
            <a:r>
              <a:t>    2. Network Latency Constraint: Modeled regional latency(player_region, server_region) &lt;= Request latency limit.</a:t>
            </a:r>
          </a:p>
          <a:p>
            <a:pPr>
              <a:defRPr sz="1300">
                <a:solidFill>
                  <a:srgbClr val="3182CE"/>
                </a:solidFill>
              </a:defRPr>
            </a:pPr>
            <a:r>
              <a:t>    3. Lifecycle Conservation: Automatic, exact resource release upon session duration expiration (t_end = t_arr + duration).</a:t>
            </a:r>
          </a:p>
          <a:p>
            <a:br/>
            <a:pPr>
              <a:defRPr b="1" sz="1600">
                <a:solidFill>
                  <a:srgbClr val="1A365D"/>
                </a:solidFill>
              </a:defRPr>
            </a:pPr>
            <a:r>
              <a:t>Core Project Objectives:</a:t>
            </a:r>
          </a:p>
          <a:p>
            <a:pPr>
              <a:defRPr sz="1300">
                <a:solidFill>
                  <a:srgbClr val="2D3748"/>
                </a:solidFill>
              </a:defRPr>
            </a:pPr>
            <a:r>
              <a:t>•  1. Reproducible C Simulator: Build reference sequential engine and discrete-event min-heap queue.</a:t>
            </a:r>
          </a:p>
          <a:p>
            <a:pPr>
              <a:defRPr sz="1300">
                <a:solidFill>
                  <a:srgbClr val="2D3748"/>
                </a:solidFill>
              </a:defRPr>
            </a:pPr>
            <a:r>
              <a:t>•  2. Multi-Model Parallel Acceleration: Implement OpenMP, MPI, and Hybrid MPI+OpenMP candidate evaluation.</a:t>
            </a:r>
          </a:p>
          <a:p>
            <a:pPr>
              <a:defRPr sz="1300">
                <a:solidFill>
                  <a:srgbClr val="2D3748"/>
                </a:solidFill>
              </a:defRPr>
            </a:pPr>
            <a:r>
              <a:t>•  3. 100% Cross-Backend Equivalence: Enforce identical per-request decisions and bitwise log agreement.</a:t>
            </a:r>
          </a:p>
          <a:p>
            <a:pPr>
              <a:defRPr sz="1300">
                <a:solidFill>
                  <a:srgbClr val="2D3748"/>
                </a:solidFill>
              </a:defRPr>
            </a:pPr>
            <a:r>
              <a:t>•  4. Systematic Benchmarking: Evaluate speedup, efficiency, and overhead across worker budgets (1, 2, 4) up to 10,000 servers.</a:t>
            </a:r>
          </a:p>
          <a:p>
            <a:pPr>
              <a:defRPr sz="1300">
                <a:solidFill>
                  <a:srgbClr val="2D3748"/>
                </a:solidFill>
              </a:defRPr>
            </a:pPr>
            <a:r>
              <a:t>•  5. Policy Trade-Off Analysis: Contrast Scored Allocation against the greedy First-Fit heuristic baseline.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182CE"/>
                </a:solidFill>
              </a:defRPr>
            </a:pPr>
            <a:r>
              <a:t>PARALLEL COMPUTING ARCHITECTURE PROGRAMMING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Literature Review (10 Papers Surveyed: 2020-2025)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1A365D"/>
                </a:solidFill>
              </a:defRPr>
            </a:pPr>
            <a:r>
              <a:t>Systematic Survey of High-Impact Publications (IEEE, ACM, Springer, Elsevier):</a:t>
            </a:r>
          </a:p>
          <a:p>
            <a:pPr>
              <a:defRPr b="1" sz="1200">
                <a:solidFill>
                  <a:srgbClr val="1A365D"/>
                </a:solidFill>
              </a:defRPr>
            </a:pPr>
            <a:r>
              <a:t>•  Deng et al. (IEEE IoT-J 2023): </a:t>
            </a:r>
            <a:r>
              <a:rPr b="0">
                <a:solidFill>
                  <a:srgbClr val="3182CE"/>
                </a:solidFill>
              </a:rPr>
              <a:t>Multi-Agent DRL for edge cloud gaming. — </a:t>
            </a:r>
            <a:r>
              <a:rPr b="0">
                <a:solidFill>
                  <a:srgbClr val="2D3748"/>
                </a:solidFill>
              </a:rPr>
              <a:t>High QoE adaptability, but high offline training and inference delay.</a:t>
            </a:r>
          </a:p>
          <a:p>
            <a:pPr>
              <a:defRPr b="1" sz="1200">
                <a:solidFill>
                  <a:srgbClr val="1A365D"/>
                </a:solidFill>
              </a:defRPr>
            </a:pPr>
            <a:r>
              <a:t>•  Zhao et al. (IEEE TPDS 2021): </a:t>
            </a:r>
            <a:r>
              <a:rPr b="0">
                <a:solidFill>
                  <a:srgbClr val="3182CE"/>
                </a:solidFill>
              </a:rPr>
              <a:t>Multi-GPU game co-location. — </a:t>
            </a:r>
            <a:r>
              <a:rPr b="0">
                <a:solidFill>
                  <a:srgbClr val="2D3748"/>
                </a:solidFill>
              </a:rPr>
              <a:t>Eliminates frame rate degradation via multi-dimensional bin packing.</a:t>
            </a:r>
          </a:p>
          <a:p>
            <a:pPr>
              <a:defRPr b="1" sz="1200">
                <a:solidFill>
                  <a:srgbClr val="1A365D"/>
                </a:solidFill>
              </a:defRPr>
            </a:pPr>
            <a:r>
              <a:t>•  Hossain et al. (IEEE TNSM 2022): </a:t>
            </a:r>
            <a:r>
              <a:rPr b="0">
                <a:solidFill>
                  <a:srgbClr val="3182CE"/>
                </a:solidFill>
              </a:rPr>
              <a:t>MEC latency-aware offloading. — </a:t>
            </a:r>
            <a:r>
              <a:rPr b="0">
                <a:solidFill>
                  <a:srgbClr val="2D3748"/>
                </a:solidFill>
              </a:rPr>
              <a:t>Analyzed delay trade-offs; evaluated on homogeneous sequential models.</a:t>
            </a:r>
          </a:p>
          <a:p>
            <a:pPr>
              <a:defRPr b="1" sz="1200">
                <a:solidFill>
                  <a:srgbClr val="1A365D"/>
                </a:solidFill>
              </a:defRPr>
            </a:pPr>
            <a:r>
              <a:t>•  Tan et al. (IEEE/ACM ToN 2021): </a:t>
            </a:r>
            <a:r>
              <a:rPr b="0">
                <a:solidFill>
                  <a:srgbClr val="3182CE"/>
                </a:solidFill>
              </a:rPr>
              <a:t>Lyapunov online admission control. — </a:t>
            </a:r>
            <a:r>
              <a:rPr b="0">
                <a:solidFill>
                  <a:srgbClr val="2D3748"/>
                </a:solidFill>
              </a:rPr>
              <a:t>Theoretical queue bounds, but computationally unviable at 10,000 servers.</a:t>
            </a:r>
          </a:p>
          <a:p>
            <a:pPr>
              <a:defRPr b="1" sz="1200">
                <a:solidFill>
                  <a:srgbClr val="1A365D"/>
                </a:solidFill>
              </a:defRPr>
            </a:pPr>
            <a:r>
              <a:t>•  Mishra &amp; Dash (Springer 2022): </a:t>
            </a:r>
            <a:r>
              <a:rPr b="0">
                <a:solidFill>
                  <a:srgbClr val="3182CE"/>
                </a:solidFill>
              </a:rPr>
              <a:t>OpenMP vs. MPI on NUMA systems. — </a:t>
            </a:r>
            <a:r>
              <a:rPr b="0">
                <a:solidFill>
                  <a:srgbClr val="2D3748"/>
                </a:solidFill>
              </a:rPr>
              <a:t>Quantified communication overheads in reduction-heavy algorithms.</a:t>
            </a:r>
          </a:p>
          <a:p>
            <a:pPr>
              <a:defRPr b="1" sz="1200">
                <a:solidFill>
                  <a:srgbClr val="1A365D"/>
                </a:solidFill>
              </a:defRPr>
            </a:pPr>
            <a:r>
              <a:t>•  Gomez-Martin (Elsevier JSA 2022): </a:t>
            </a:r>
            <a:r>
              <a:rPr b="0">
                <a:solidFill>
                  <a:srgbClr val="3182CE"/>
                </a:solidFill>
              </a:rPr>
              <a:t>Hybrid MPI+OpenMP heuristics. — </a:t>
            </a:r>
            <a:r>
              <a:rPr b="0">
                <a:solidFill>
                  <a:srgbClr val="2D3748"/>
                </a:solidFill>
              </a:rPr>
              <a:t>Hierarchical decomposition reduces collective network message traffic.</a:t>
            </a:r>
          </a:p>
          <a:p>
            <a:br/>
            <a:pPr>
              <a:defRPr sz="1200" b="1">
                <a:solidFill>
                  <a:srgbClr val="C53030"/>
                </a:solidFill>
              </a:defRPr>
            </a:pPr>
            <a:r>
              <a:t>Identified Research Gap: Existing schedulers either rely on slow sequential heuristics or black-box offline ML models. A high-performance, deterministic C simulator evaluating OpenMP vs. MPI vs. Hybrid scaling directly on multi-core unified memory architectures has been unaddressed.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182CE"/>
                </a:solidFill>
              </a:defRPr>
            </a:pPr>
            <a:r>
              <a:t>PARALLEL COMPUTING ARCHITECTURE PROGRAMMING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System Architecture &amp; Simulation Workflow</a:t>
            </a:r>
          </a:p>
        </p:txBody>
      </p:sp>
      <p:pic>
        <p:nvPicPr>
          <p:cNvPr id="4" name="Picture 3" descr="architecture_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4124960" cy="5303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03520" y="1188720"/>
            <a:ext cx="6217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1A365D"/>
                </a:solidFill>
              </a:defRPr>
            </a:pPr>
            <a:r>
              <a:t>Key Architectural Modules:</a:t>
            </a:r>
          </a:p>
          <a:p>
            <a:pPr>
              <a:spcBef>
                <a:spcPts val="800"/>
              </a:spcBef>
              <a:defRPr b="1" sz="1200">
                <a:solidFill>
                  <a:srgbClr val="3182CE"/>
                </a:solidFill>
              </a:defRPr>
            </a:pPr>
            <a:r>
              <a:t>• Input/Workload Module (src/input.c): </a:t>
            </a:r>
            <a:r>
              <a:rPr b="0">
                <a:solidFill>
                  <a:srgbClr val="2D3748"/>
                </a:solidFill>
              </a:rPr>
              <a:t>Reads servers, requests, and 4x4 latency matrices with high-speed CSV parsing and monotonic timer.</a:t>
            </a:r>
          </a:p>
          <a:p>
            <a:pPr>
              <a:spcBef>
                <a:spcPts val="800"/>
              </a:spcBef>
              <a:defRPr b="1" sz="1200">
                <a:solidFill>
                  <a:srgbClr val="3182CE"/>
                </a:solidFill>
              </a:defRPr>
            </a:pPr>
            <a:r>
              <a:t>• Event Priority Min-Heap (src/events.c): </a:t>
            </a:r>
            <a:r>
              <a:rPr b="0">
                <a:solidFill>
                  <a:srgbClr val="2D3748"/>
                </a:solidFill>
              </a:rPr>
              <a:t>Tracks active sessions ordered by end_time. Drains expired sessions before each arrival to restore server capacities.</a:t>
            </a:r>
          </a:p>
          <a:p>
            <a:pPr>
              <a:spcBef>
                <a:spcPts val="800"/>
              </a:spcBef>
              <a:defRPr b="1" sz="1200">
                <a:solidFill>
                  <a:srgbClr val="3182CE"/>
                </a:solidFill>
              </a:defRPr>
            </a:pPr>
            <a:r>
              <a:t>• Scoring Kernel (src/scoring.c): </a:t>
            </a:r>
            <a:r>
              <a:rPr b="0">
                <a:solidFill>
                  <a:srgbClr val="2D3748"/>
                </a:solidFill>
              </a:rPr>
              <a:t>Deterministic feasibility checks across 4 resources and score calculation: S = 0.5 * L + 0.5 * U.</a:t>
            </a:r>
          </a:p>
          <a:p>
            <a:pPr>
              <a:spcBef>
                <a:spcPts val="800"/>
              </a:spcBef>
              <a:defRPr b="1" sz="1200">
                <a:solidFill>
                  <a:srgbClr val="3182CE"/>
                </a:solidFill>
              </a:defRPr>
            </a:pPr>
            <a:r>
              <a:t>• Four Backends (src/backend_*.c): </a:t>
            </a:r>
            <a:r>
              <a:rPr b="0">
                <a:solidFill>
                  <a:srgbClr val="2D3748"/>
                </a:solidFill>
              </a:rPr>
              <a:t>1. Sequential: Reference loop scan.
2. OpenMP: Thread-private candidate reduction.
3. MPI: Contiguous partition ownership + MPI_Allreduce.
4. Hybrid: MPI domain split + OpenMP thread scan.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182CE"/>
                </a:solidFill>
              </a:defRPr>
            </a:pPr>
            <a:r>
              <a:t>PARALLEL COMPUTING ARCHITECTURE PROGRAMMING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Mathematical Model &amp; Algorithms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1A365D"/>
                </a:solidFill>
              </a:defRPr>
            </a:pPr>
            <a:r>
              <a:t>1. Feasibility Condition (Eligibility Filter):</a:t>
            </a:r>
          </a:p>
          <a:p>
            <a:pPr>
              <a:defRPr sz="1300">
                <a:solidFill>
                  <a:srgbClr val="3182CE"/>
                </a:solidFill>
              </a:defRPr>
            </a:pPr>
            <a:r>
              <a:t>    Latency(region_r, region_s) &lt;= Latency_Limit(r)</a:t>
            </a:r>
            <a:br/>
            <a:r>
              <a:t>    AND Server_Avail[res] &gt;= Request_Demand[res]  FOR ALL res in {CPU, GPU, RAM, Bandwidth}</a:t>
            </a:r>
          </a:p>
          <a:p>
            <a:br/>
            <a:pPr>
              <a:defRPr b="1" sz="1500">
                <a:solidFill>
                  <a:srgbClr val="1A365D"/>
                </a:solidFill>
              </a:defRPr>
            </a:pPr>
            <a:r>
              <a:t>2. Normalized Composite Score Formulation:</a:t>
            </a:r>
          </a:p>
          <a:p>
            <a:pPr>
              <a:defRPr sz="1300">
                <a:solidFill>
                  <a:srgbClr val="3182CE"/>
                </a:solidFill>
              </a:defRPr>
            </a:pPr>
            <a:r>
              <a:t>    Normalized Latency: L = Latency / Latency_Limit</a:t>
            </a:r>
            <a:br/>
            <a:r>
              <a:t>    Resource Fractions: u[res] = (Total[res] - Avail[res] + Demand[res]) / Total[res]</a:t>
            </a:r>
            <a:br/>
            <a:r>
              <a:t>    Bottleneck Utilization: U = MAX(u[CPU], u[GPU], u[RAM], u[Bandwidth])</a:t>
            </a:r>
            <a:br/>
            <a:r>
              <a:t>    Score = 0.5 * L + 0.5 * U</a:t>
            </a:r>
          </a:p>
          <a:p>
            <a:br/>
            <a:pPr>
              <a:defRPr b="1" sz="1500">
                <a:solidFill>
                  <a:srgbClr val="1A365D"/>
                </a:solidFill>
              </a:defRPr>
            </a:pPr>
            <a:r>
              <a:t>3. Deterministic Winner Comparison Rule:</a:t>
            </a:r>
          </a:p>
          <a:p>
            <a:pPr>
              <a:defRPr sz="1300">
                <a:solidFill>
                  <a:srgbClr val="2D3748"/>
                </a:solidFill>
              </a:defRPr>
            </a:pPr>
            <a:r>
              <a:t>    Lowest score wins. Ties broken by lowest Global Server ID.</a:t>
            </a:r>
            <a:br/>
            <a:r>
              <a:t>    Candidate representation: struct { double score; int server_id; }</a:t>
            </a:r>
            <a:br/>
            <a:r>
              <a:t>    Directly compatible with MPI_Allreduce(..., MPI_DOUBLE_INT, MPI_MINLOC, MPI_COMM_WORLD).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182CE"/>
                </a:solidFill>
              </a:defRPr>
            </a:pPr>
            <a:r>
              <a:t>PARALLEL COMPUTING ARCHITECTURE PROGRAMMING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Implementation Architecture Across 4 Backends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defRPr b="1" sz="1400">
                <a:solidFill>
                  <a:srgbClr val="1A365D"/>
                </a:solidFill>
              </a:defRPr>
            </a:pPr>
            <a:r>
              <a:t>• Sequential C (src/backend_seq.c): </a:t>
            </a:r>
            <a:r>
              <a:rPr b="0">
                <a:solidFill>
                  <a:srgbClr val="2D3748"/>
                </a:solidFill>
              </a:rPr>
              <a:t>Single-threaded scan through all N servers. Serves as the correctness oracle and baseline for speedup calculation. Supports both Scored and First-Fit policies.</a:t>
            </a:r>
          </a:p>
          <a:p>
            <a:pPr>
              <a:spcBef>
                <a:spcPts val="1000"/>
              </a:spcBef>
              <a:defRPr b="1" sz="1400">
                <a:solidFill>
                  <a:srgbClr val="1A365D"/>
                </a:solidFill>
              </a:defRPr>
            </a:pPr>
            <a:r>
              <a:t>• OpenMP Shared-Memory (src/backend_omp.c): </a:t>
            </a:r>
            <a:r>
              <a:rPr b="0">
                <a:solidFill>
                  <a:srgbClr val="2D3748"/>
                </a:solidFill>
              </a:rPr>
              <a:t>Uses #pragma omp parallel with #pragma omp for schedule(static). Each thread evaluates assigned servers into a private candidate variable without locks. Winners merged once per thread. Single-threaded master commits reservation.</a:t>
            </a:r>
          </a:p>
          <a:p>
            <a:pPr>
              <a:spcBef>
                <a:spcPts val="1000"/>
              </a:spcBef>
              <a:defRPr b="1" sz="1400">
                <a:solidFill>
                  <a:srgbClr val="1A365D"/>
                </a:solidFill>
              </a:defRPr>
            </a:pPr>
            <a:r>
              <a:t>• MPI Message-Passing (src/backend_mpi.c): </a:t>
            </a:r>
            <a:r>
              <a:rPr b="0">
                <a:solidFill>
                  <a:srgbClr val="2D3748"/>
                </a:solidFill>
              </a:rPr>
              <a:t>Partitions N servers contiguously across P ranks: count = N/P + (rank &lt; N%P ? 1 : 0). Rank 0 broadcasts request (MPI_Bcast). Each rank scans local partition. Global winner reduced via MPI_Allreduce(MPI_MINLOC). Only owning rank reserves capacity.</a:t>
            </a:r>
          </a:p>
          <a:p>
            <a:pPr>
              <a:spcBef>
                <a:spcPts val="1000"/>
              </a:spcBef>
              <a:defRPr b="1" sz="1400">
                <a:solidFill>
                  <a:srgbClr val="1A365D"/>
                </a:solidFill>
              </a:defRPr>
            </a:pPr>
            <a:r>
              <a:t>• Hybrid MPI+OpenMP (src/backend_hybrid.c): </a:t>
            </a:r>
            <a:r>
              <a:rPr b="0">
                <a:solidFill>
                  <a:srgbClr val="2D3748"/>
                </a:solidFill>
              </a:rPr>
              <a:t>Initialized via MPI_Init_thread(MPI_THREAD_FUNNELED). Combines MPI domain decomposition across ranks with OpenMP multi-threaded scanning inside each rank. Evaluated at fixed worker budget W = P x 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182CE"/>
                </a:solidFill>
              </a:defRPr>
            </a:pPr>
            <a:r>
              <a:t>PARALLEL COMPUTING ARCHITECTURE PROGRAMMING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Experimental Setup &amp; Target Hardware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b="1" sz="1300">
                <a:solidFill>
                  <a:srgbClr val="1A365D"/>
                </a:solidFill>
              </a:defRPr>
            </a:pPr>
            <a:r>
              <a:t>•  Host Machine: </a:t>
            </a:r>
            <a:r>
              <a:rPr b="0">
                <a:solidFill>
                  <a:srgbClr val="2D3748"/>
                </a:solidFill>
              </a:rPr>
              <a:t>Apple Silicon MacBook Air (Apple M-series architecture)</a:t>
            </a:r>
          </a:p>
          <a:p>
            <a:pPr>
              <a:spcBef>
                <a:spcPts val="600"/>
              </a:spcBef>
              <a:defRPr b="1" sz="1300">
                <a:solidFill>
                  <a:srgbClr val="1A365D"/>
                </a:solidFill>
              </a:defRPr>
            </a:pPr>
            <a:r>
              <a:t>•  CPU Configuration: </a:t>
            </a:r>
            <a:r>
              <a:rPr b="0">
                <a:solidFill>
                  <a:srgbClr val="2D3748"/>
                </a:solidFill>
              </a:rPr>
              <a:t>10 logical cores (high-performance + high-efficiency cores)</a:t>
            </a:r>
          </a:p>
          <a:p>
            <a:pPr>
              <a:spcBef>
                <a:spcPts val="600"/>
              </a:spcBef>
              <a:defRPr b="1" sz="1300">
                <a:solidFill>
                  <a:srgbClr val="1A365D"/>
                </a:solidFill>
              </a:defRPr>
            </a:pPr>
            <a:r>
              <a:t>•  Unified Memory: </a:t>
            </a:r>
            <a:r>
              <a:rPr b="0">
                <a:solidFill>
                  <a:srgbClr val="2D3748"/>
                </a:solidFill>
              </a:rPr>
              <a:t>16 GB unified RAM (17,179,869,184 bytes); 512 GB SSD storage</a:t>
            </a:r>
          </a:p>
          <a:p>
            <a:pPr>
              <a:spcBef>
                <a:spcPts val="600"/>
              </a:spcBef>
              <a:defRPr b="1" sz="1300">
                <a:solidFill>
                  <a:srgbClr val="1A365D"/>
                </a:solidFill>
              </a:defRPr>
            </a:pPr>
            <a:r>
              <a:t>•  Compiler Toolchain: </a:t>
            </a:r>
            <a:r>
              <a:rPr b="0">
                <a:solidFill>
                  <a:srgbClr val="2D3748"/>
                </a:solidFill>
              </a:rPr>
              <a:t>Homebrew LLVM Clang version 23.1.3 (-std=c11 -O2 -Wall -Wextra)</a:t>
            </a:r>
          </a:p>
          <a:p>
            <a:pPr>
              <a:spcBef>
                <a:spcPts val="600"/>
              </a:spcBef>
              <a:defRPr b="1" sz="1300">
                <a:solidFill>
                  <a:srgbClr val="1A365D"/>
                </a:solidFill>
              </a:defRPr>
            </a:pPr>
            <a:r>
              <a:t>•  OpenMP Runtime: </a:t>
            </a:r>
            <a:r>
              <a:rPr b="0">
                <a:solidFill>
                  <a:srgbClr val="2D3748"/>
                </a:solidFill>
              </a:rPr>
              <a:t>Homebrew libomp version 23.1.3 (-fopenmp)</a:t>
            </a:r>
          </a:p>
          <a:p>
            <a:pPr>
              <a:spcBef>
                <a:spcPts val="600"/>
              </a:spcBef>
              <a:defRPr b="1" sz="1300">
                <a:solidFill>
                  <a:srgbClr val="1A365D"/>
                </a:solidFill>
              </a:defRPr>
            </a:pPr>
            <a:r>
              <a:t>•  MPI Environment: </a:t>
            </a:r>
            <a:r>
              <a:rPr b="0">
                <a:solidFill>
                  <a:srgbClr val="2D3748"/>
                </a:solidFill>
              </a:rPr>
              <a:t>Open MPI version 5.0.11 (native arm64 build; mpicc / mpirun)</a:t>
            </a:r>
          </a:p>
          <a:p>
            <a:pPr>
              <a:spcBef>
                <a:spcPts val="600"/>
              </a:spcBef>
              <a:defRPr b="1" sz="1300">
                <a:solidFill>
                  <a:srgbClr val="1A365D"/>
                </a:solidFill>
              </a:defRPr>
            </a:pPr>
            <a:r>
              <a:t>•  Python Environment: </a:t>
            </a:r>
            <a:r>
              <a:rPr b="0">
                <a:solidFill>
                  <a:srgbClr val="2D3748"/>
                </a:solidFill>
              </a:rPr>
              <a:t>Python 3.12 (.venv) with Matplotlib 3.11.2, Pandas 3.0.6, NumPy 2.5.4</a:t>
            </a:r>
          </a:p>
          <a:p>
            <a:pPr>
              <a:spcBef>
                <a:spcPts val="600"/>
              </a:spcBef>
              <a:defRPr b="1" sz="1300">
                <a:solidFill>
                  <a:srgbClr val="1A365D"/>
                </a:solidFill>
              </a:defRPr>
            </a:pPr>
            <a:r>
              <a:t>•  Benchmark Workloads: </a:t>
            </a:r>
            <a:r>
              <a:rPr b="0">
                <a:solidFill>
                  <a:srgbClr val="2D3748"/>
                </a:solidFill>
              </a:rPr>
              <a:t>100, 1,000, and 10,000 server pools evaluated under 1,000 high-arrival requests across 5 repetitions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182CE"/>
                </a:solidFill>
              </a:defRPr>
            </a:pPr>
            <a:r>
              <a:t>PARALLEL COMPUTING ARCHITECTURE PROGRAMMING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Correctness Gates &amp; Cross-Backend Equivalence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1A365D"/>
                </a:solidFill>
              </a:defRPr>
            </a:pPr>
            <a:r>
              <a:t>12 Rigorous Correctness Gates Verified via Automated Test Suite (tests/test_correctness.c):</a:t>
            </a:r>
          </a:p>
          <a:p>
            <a:pPr>
              <a:spcBef>
                <a:spcPts val="800"/>
              </a:spcBef>
              <a:defRPr b="1" sz="1200">
                <a:solidFill>
                  <a:srgbClr val="28A745"/>
                </a:solidFill>
              </a:defRPr>
            </a:pPr>
            <a:r>
              <a:t>[PASS]  Gate 1 &amp; 2: Boundary Feasibility: </a:t>
            </a:r>
            <a:r>
              <a:rPr b="0">
                <a:solidFill>
                  <a:srgbClr val="2D3748"/>
                </a:solidFill>
              </a:rPr>
              <a:t>Exact fit allocates completely (0 capacity remaining); resource shortage rejects without state mutation.</a:t>
            </a:r>
          </a:p>
          <a:p>
            <a:pPr>
              <a:spcBef>
                <a:spcPts val="800"/>
              </a:spcBef>
              <a:defRPr b="1" sz="1200">
                <a:solidFill>
                  <a:srgbClr val="28A745"/>
                </a:solidFill>
              </a:defRPr>
            </a:pPr>
            <a:r>
              <a:t>[PASS]  Gate 3: Latency Invariant: </a:t>
            </a:r>
            <a:r>
              <a:rPr b="0">
                <a:solidFill>
                  <a:srgbClr val="2D3748"/>
                </a:solidFill>
              </a:rPr>
              <a:t>Rejects candidate servers exceeding request latency limit even if resources are abundant.</a:t>
            </a:r>
          </a:p>
          <a:p>
            <a:pPr>
              <a:spcBef>
                <a:spcPts val="800"/>
              </a:spcBef>
              <a:defRPr b="1" sz="1200">
                <a:solidFill>
                  <a:srgbClr val="28A745"/>
                </a:solidFill>
              </a:defRPr>
            </a:pPr>
            <a:r>
              <a:t>[PASS]  Gate 4: Deterministic Tie-Breaking: </a:t>
            </a:r>
            <a:r>
              <a:rPr b="0">
                <a:solidFill>
                  <a:srgbClr val="2D3748"/>
                </a:solidFill>
              </a:rPr>
              <a:t>Equal score candidates break ties deterministically by selecting lowest Global Server ID.</a:t>
            </a:r>
          </a:p>
          <a:p>
            <a:pPr>
              <a:spcBef>
                <a:spcPts val="800"/>
              </a:spcBef>
              <a:defRPr b="1" sz="1200">
                <a:solidFill>
                  <a:srgbClr val="28A745"/>
                </a:solidFill>
              </a:defRPr>
            </a:pPr>
            <a:r>
              <a:t>[PASS]  Gate 5: Event Ordering: </a:t>
            </a:r>
            <a:r>
              <a:rPr b="0">
                <a:solidFill>
                  <a:srgbClr val="2D3748"/>
                </a:solidFill>
              </a:rPr>
              <a:t>Session completions occurring at current arrival timestamp are released before next allocation.</a:t>
            </a:r>
          </a:p>
          <a:p>
            <a:pPr>
              <a:spcBef>
                <a:spcPts val="800"/>
              </a:spcBef>
              <a:defRPr b="1" sz="1200">
                <a:solidFill>
                  <a:srgbClr val="28A745"/>
                </a:solidFill>
              </a:defRPr>
            </a:pPr>
            <a:r>
              <a:t>[PASS]  Gate 6 &amp; 7: Lifecycle Conservation: </a:t>
            </a:r>
            <a:r>
              <a:rPr b="0">
                <a:solidFill>
                  <a:srgbClr val="2D3748"/>
                </a:solidFill>
              </a:rPr>
              <a:t>Final event drain restores 100.0% original capacities; partition math handles uneven N/P.</a:t>
            </a:r>
          </a:p>
          <a:p>
            <a:pPr>
              <a:spcBef>
                <a:spcPts val="800"/>
              </a:spcBef>
              <a:defRPr b="1" sz="1200">
                <a:solidFill>
                  <a:srgbClr val="28A745"/>
                </a:solidFill>
              </a:defRPr>
            </a:pPr>
            <a:r>
              <a:t>[PASS]  Gate 8-12: Bitwise Backend Equivalence: </a:t>
            </a:r>
            <a:r>
              <a:rPr b="0">
                <a:solidFill>
                  <a:srgbClr val="2D3748"/>
                </a:solidFill>
              </a:rPr>
              <a:t>Sequential == OpenMP == MPI == Hybrid: 100% identical decision logs across all requests.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182CE"/>
                </a:solidFill>
              </a:defRPr>
            </a:pPr>
            <a:r>
              <a:t>PARALLEL COMPUTING ARCHITECTURE PROGRAMMING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Empirical Benchmark Results: Runtime &amp; Speedup</a:t>
            </a:r>
          </a:p>
        </p:txBody>
      </p:sp>
      <p:pic>
        <p:nvPicPr>
          <p:cNvPr id="4" name="Picture 3" descr="fig1_runtime_vs_work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5212080" cy="3257550"/>
          </a:xfrm>
          <a:prstGeom prst="rect">
            <a:avLst/>
          </a:prstGeom>
        </p:spPr>
      </p:pic>
      <p:pic>
        <p:nvPicPr>
          <p:cNvPr id="5" name="Picture 4" descr="fig2_speedup_efficienc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280160"/>
            <a:ext cx="5212080" cy="186145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30352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A365D"/>
                </a:solidFill>
              </a:defRPr>
            </a:pPr>
            <a:r>
              <a:t>Key Takeaway: At 10,000 servers, MPI achieves 2.92x speedup on 4 ranks (core time: 0.0125s vs 0.0366s sequential), successfully amortizing collective broadcast and reduction overheads. OpenMP runtime remains constant due to thread management overhead.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182CE"/>
                </a:solidFill>
              </a:defRPr>
            </a:pPr>
            <a:r>
              <a:t>PARALLEL COMPUTING ARCHITECTURE PROGRAMMING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Scaling Behavior Across Server Pool Scales</a:t>
            </a:r>
          </a:p>
        </p:txBody>
      </p:sp>
      <p:pic>
        <p:nvPicPr>
          <p:cNvPr id="4" name="Picture 3" descr="fig3_scaling_serv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5669280" cy="3149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675120" y="1280160"/>
            <a:ext cx="47548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1A365D"/>
                </a:solidFill>
              </a:defRPr>
            </a:pPr>
            <a:r>
              <a:t>Runtime Scaling &amp; Crossover Insights:</a:t>
            </a:r>
          </a:p>
          <a:p>
            <a:pPr>
              <a:spcBef>
                <a:spcPts val="800"/>
              </a:spcBef>
              <a:defRPr b="1" sz="1200">
                <a:solidFill>
                  <a:srgbClr val="3182CE"/>
                </a:solidFill>
              </a:defRPr>
            </a:pPr>
            <a:r>
              <a:t>• Small Scale (100 Servers): </a:t>
            </a:r>
            <a:r>
              <a:rPr b="0">
                <a:solidFill>
                  <a:srgbClr val="2D3748"/>
                </a:solidFill>
              </a:rPr>
              <a:t>Sequential C is fastest (0.0004s). OpenMP thread synchronization and MPI IPC socket costs outweigh parallel compute savings.</a:t>
            </a:r>
          </a:p>
          <a:p>
            <a:pPr>
              <a:spcBef>
                <a:spcPts val="800"/>
              </a:spcBef>
              <a:defRPr b="1" sz="1200">
                <a:solidFill>
                  <a:srgbClr val="3182CE"/>
                </a:solidFill>
              </a:defRPr>
            </a:pPr>
            <a:r>
              <a:t>• Medium Scale (1,000 Servers): </a:t>
            </a:r>
            <a:r>
              <a:rPr b="0">
                <a:solidFill>
                  <a:srgbClr val="2D3748"/>
                </a:solidFill>
              </a:rPr>
              <a:t>Crossover region: MPI 4 ranks (0.0027s) outperforms Sequential (0.0037s) as search computational density increases.</a:t>
            </a:r>
          </a:p>
          <a:p>
            <a:pPr>
              <a:spcBef>
                <a:spcPts val="800"/>
              </a:spcBef>
              <a:defRPr b="1" sz="1200">
                <a:solidFill>
                  <a:srgbClr val="3182CE"/>
                </a:solidFill>
              </a:defRPr>
            </a:pPr>
            <a:r>
              <a:t>• Large Scale (10,000 Servers): </a:t>
            </a:r>
            <a:r>
              <a:rPr b="0">
                <a:solidFill>
                  <a:srgbClr val="2D3748"/>
                </a:solidFill>
              </a:rPr>
              <a:t>MPI achieves dominant performance: 0.0125s vs 0.0366s (2.92x speedup). Collective communication overhead is fully amortized.</a:t>
            </a:r>
          </a:p>
          <a:p>
            <a:pPr>
              <a:spcBef>
                <a:spcPts val="800"/>
              </a:spcBef>
              <a:defRPr b="1" sz="1200">
                <a:solidFill>
                  <a:srgbClr val="3182CE"/>
                </a:solidFill>
              </a:defRPr>
            </a:pPr>
            <a:r>
              <a:t>• Hybrid Split: </a:t>
            </a:r>
            <a:r>
              <a:rPr b="0">
                <a:solidFill>
                  <a:srgbClr val="2D3748"/>
                </a:solidFill>
              </a:rPr>
              <a:t>Hybrid 2 ranks x 2 threads achieves 0.0256s, offering a viable middle ground between thread synchronization and IPC communication.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182CE"/>
                </a:solidFill>
              </a:defRPr>
            </a:pPr>
            <a:r>
              <a:t>PARALLEL COMPUTING ARCHITECTURE PROGRAMMING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Policy Comparison: Scored Allocation vs. First-Fit</a:t>
            </a:r>
          </a:p>
        </p:txBody>
      </p:sp>
      <p:pic>
        <p:nvPicPr>
          <p:cNvPr id="4" name="Picture 3" descr="fig4_policy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5669280" cy="218049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675120" y="1280160"/>
            <a:ext cx="47548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1A365D"/>
                </a:solidFill>
              </a:defRPr>
            </a:pPr>
            <a:r>
              <a:t>QoS and Latency Policy Comparison:</a:t>
            </a:r>
          </a:p>
          <a:p>
            <a:pPr>
              <a:spcBef>
                <a:spcPts val="800"/>
              </a:spcBef>
              <a:defRPr b="1" sz="1200">
                <a:solidFill>
                  <a:srgbClr val="28A745"/>
                </a:solidFill>
              </a:defRPr>
            </a:pPr>
            <a:r>
              <a:t>• 54.7% Latency Reduction: </a:t>
            </a:r>
            <a:r>
              <a:rPr b="0">
                <a:solidFill>
                  <a:srgbClr val="2D3748"/>
                </a:solidFill>
              </a:rPr>
              <a:t>Scored allocation achieves an average network delay of 14.22 ms compared to 31.43 ms under First-Fit heuristic.</a:t>
            </a:r>
          </a:p>
          <a:p>
            <a:pPr>
              <a:spcBef>
                <a:spcPts val="800"/>
              </a:spcBef>
              <a:defRPr b="1" sz="1200">
                <a:solidFill>
                  <a:srgbClr val="28A745"/>
                </a:solidFill>
              </a:defRPr>
            </a:pPr>
            <a:r>
              <a:t>• Balanced Server Utilization: </a:t>
            </a:r>
            <a:r>
              <a:rPr b="0">
                <a:solidFill>
                  <a:srgbClr val="2D3748"/>
                </a:solidFill>
              </a:rPr>
              <a:t>Scored policy evaluates candidate resource headroom, preventing server hot-spotting and premature GPU exhaustion.</a:t>
            </a:r>
          </a:p>
          <a:p>
            <a:pPr>
              <a:spcBef>
                <a:spcPts val="800"/>
              </a:spcBef>
              <a:defRPr b="1" sz="1200">
                <a:solidFill>
                  <a:srgbClr val="28A745"/>
                </a:solidFill>
              </a:defRPr>
            </a:pPr>
            <a:r>
              <a:t>• The First-Fit Trade-off: </a:t>
            </a:r>
            <a:r>
              <a:rPr b="0">
                <a:solidFill>
                  <a:srgbClr val="2D3748"/>
                </a:solidFill>
              </a:rPr>
              <a:t>First-Fit terminates search early at the first feasible server (0.007s runtime), but incurs over 2x worse gaming latency.</a:t>
            </a:r>
          </a:p>
          <a:p>
            <a:pPr>
              <a:spcBef>
                <a:spcPts val="800"/>
              </a:spcBef>
              <a:defRPr b="1" sz="1200">
                <a:solidFill>
                  <a:srgbClr val="28A745"/>
                </a:solidFill>
              </a:defRPr>
            </a:pPr>
            <a:r>
              <a:t>• Academic Justification: </a:t>
            </a:r>
            <a:r>
              <a:rPr b="0">
                <a:solidFill>
                  <a:srgbClr val="2D3748"/>
                </a:solidFill>
              </a:rPr>
              <a:t>Demonstrates that parallel acceleration is crucial: it makes high-quality Scored allocation fast enough for real-time gaming.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182CE"/>
                </a:solidFill>
              </a:defRPr>
            </a:pPr>
            <a:r>
              <a:t>PARALLEL COMPUTING ARCHITECTURE PROGRAMMING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Project Demonstration &amp; Execution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1A365D"/>
                </a:solidFill>
              </a:defRPr>
            </a:pPr>
            <a:r>
              <a:t>Commands for Live Evaluation &amp; Demonstration:</a:t>
            </a:r>
          </a:p>
          <a:p>
            <a:pPr>
              <a:spcBef>
                <a:spcPts val="600"/>
              </a:spcBef>
              <a:defRPr b="1" sz="1200">
                <a:solidFill>
                  <a:srgbClr val="3182CE"/>
                </a:solidFill>
              </a:defRPr>
            </a:pPr>
            <a:r>
              <a:t>• 1. Automated Correctness Suite (make test):</a:t>
            </a:r>
          </a:p>
          <a:p>
            <a:pPr>
              <a:defRPr sz="1100">
                <a:solidFill>
                  <a:srgbClr val="2D3748"/>
                </a:solidFill>
              </a:defRPr>
            </a:pPr>
            <a:r>
              <a:t>   ./test_correctness</a:t>
            </a:r>
            <a:br/>
            <a:r>
              <a:t>Executes all 12 correctness gates; verifies boundary conditions and 100% backend equivalence.</a:t>
            </a:r>
          </a:p>
          <a:p>
            <a:pPr>
              <a:spcBef>
                <a:spcPts val="600"/>
              </a:spcBef>
              <a:defRPr b="1" sz="1200">
                <a:solidFill>
                  <a:srgbClr val="3182CE"/>
                </a:solidFill>
              </a:defRPr>
            </a:pPr>
            <a:r>
              <a:t>• 2. Sequential Reference Run:</a:t>
            </a:r>
          </a:p>
          <a:p>
            <a:pPr>
              <a:defRPr sz="1100">
                <a:solidFill>
                  <a:srgbClr val="2D3748"/>
                </a:solidFill>
              </a:defRPr>
            </a:pPr>
            <a:r>
              <a:t>   ./sequential --servers data/servers_1k.csv --requests data/requests_heavy_1k.csv --policy scored --log results/log_seq.txt</a:t>
            </a:r>
          </a:p>
          <a:p>
            <a:pPr>
              <a:spcBef>
                <a:spcPts val="600"/>
              </a:spcBef>
              <a:defRPr b="1" sz="1200">
                <a:solidFill>
                  <a:srgbClr val="3182CE"/>
                </a:solidFill>
              </a:defRPr>
            </a:pPr>
            <a:r>
              <a:t>• 3. OpenMP Multi-Threaded Run:</a:t>
            </a:r>
          </a:p>
          <a:p>
            <a:pPr>
              <a:defRPr sz="1100">
                <a:solidFill>
                  <a:srgbClr val="2D3748"/>
                </a:solidFill>
              </a:defRPr>
            </a:pPr>
            <a:r>
              <a:t>   ./openmp --servers data/servers_1k.csv --requests data/requests_heavy_1k.csv --threads 4 --policy scored --log results/log_omp.txt</a:t>
            </a:r>
          </a:p>
          <a:p>
            <a:pPr>
              <a:spcBef>
                <a:spcPts val="600"/>
              </a:spcBef>
              <a:defRPr b="1" sz="1200">
                <a:solidFill>
                  <a:srgbClr val="3182CE"/>
                </a:solidFill>
              </a:defRPr>
            </a:pPr>
            <a:r>
              <a:t>• 4. MPI Distributed-Memory Run:</a:t>
            </a:r>
          </a:p>
          <a:p>
            <a:pPr>
              <a:defRPr sz="1100">
                <a:solidFill>
                  <a:srgbClr val="2D3748"/>
                </a:solidFill>
              </a:defRPr>
            </a:pPr>
            <a:r>
              <a:t>   mpirun -np 4 ./mpi --servers data/servers_1k.csv --requests data/requests_heavy_1k.csv --policy scored --log results/log_mpi.txt</a:t>
            </a:r>
          </a:p>
          <a:p>
            <a:pPr>
              <a:spcBef>
                <a:spcPts val="600"/>
              </a:spcBef>
              <a:defRPr b="1" sz="1200">
                <a:solidFill>
                  <a:srgbClr val="3182CE"/>
                </a:solidFill>
              </a:defRPr>
            </a:pPr>
            <a:r>
              <a:t>• 5. Hybrid MPI+OpenMP Run:</a:t>
            </a:r>
          </a:p>
          <a:p>
            <a:pPr>
              <a:defRPr sz="1100">
                <a:solidFill>
                  <a:srgbClr val="2D3748"/>
                </a:solidFill>
              </a:defRPr>
            </a:pPr>
            <a:r>
              <a:t>   mpirun -np 2 ./hybrid --servers data/servers_1k.csv --requests data/requests_heavy_1k.csv --threads 2 --policy scored --log results/log_hybrid.txt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182CE"/>
                </a:solidFill>
              </a:defRPr>
            </a:pPr>
            <a:r>
              <a:t>PARALLEL COMPUTING ARCHITECTURE PROGRAMMING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Team Contributions &amp; Assessment Alignment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1A365D"/>
                </a:solidFill>
              </a:defRPr>
            </a:pPr>
            <a:r>
              <a:t>Role Distribution Across Project Lifecycle (Mini Project Guideline Requirement):</a:t>
            </a:r>
          </a:p>
          <a:p>
            <a:pPr>
              <a:spcBef>
                <a:spcPts val="1000"/>
              </a:spcBef>
              <a:defRPr b="1" sz="1300">
                <a:solidFill>
                  <a:srgbClr val="1A365D"/>
                </a:solidFill>
              </a:defRPr>
            </a:pPr>
            <a:r>
              <a:t>•  Architecture &amp; Core Discrete-Event Engine: </a:t>
            </a:r>
            <a:r>
              <a:rPr b="0">
                <a:solidFill>
                  <a:srgbClr val="2D3748"/>
                </a:solidFill>
              </a:rPr>
              <a:t>Design of data models (models.h), priority min-heap event queue (events.c), session lifecycle restoration, and input CSV parsers.</a:t>
            </a:r>
          </a:p>
          <a:p>
            <a:pPr>
              <a:spcBef>
                <a:spcPts val="1000"/>
              </a:spcBef>
              <a:defRPr b="1" sz="1300">
                <a:solidFill>
                  <a:srgbClr val="1A365D"/>
                </a:solidFill>
              </a:defRPr>
            </a:pPr>
            <a:r>
              <a:t>•  Sequential &amp; OpenMP Implementation: </a:t>
            </a:r>
            <a:r>
              <a:rPr b="0">
                <a:solidFill>
                  <a:srgbClr val="2D3748"/>
                </a:solidFill>
              </a:rPr>
              <a:t>Development of reference sequential scheduler, OpenMP static loop distribution, thread-private candidate reduction, and correctness gates test suite.</a:t>
            </a:r>
          </a:p>
          <a:p>
            <a:pPr>
              <a:spcBef>
                <a:spcPts val="1000"/>
              </a:spcBef>
              <a:defRPr b="1" sz="1300">
                <a:solidFill>
                  <a:srgbClr val="1A365D"/>
                </a:solidFill>
              </a:defRPr>
            </a:pPr>
            <a:r>
              <a:t>•  MPI &amp; Hybrid Distributed Design: </a:t>
            </a:r>
            <a:r>
              <a:rPr b="0">
                <a:solidFill>
                  <a:srgbClr val="2D3748"/>
                </a:solidFill>
              </a:rPr>
              <a:t>Implementation of contiguous server partition math, MPI_Bcast request distribution, collective MPI_Allreduce(MPI_MINLOC) reduction, and MPI_THREAD_FUNNELED hybrid integration.</a:t>
            </a:r>
          </a:p>
          <a:p>
            <a:pPr>
              <a:spcBef>
                <a:spcPts val="1000"/>
              </a:spcBef>
              <a:defRPr b="1" sz="1300">
                <a:solidFill>
                  <a:srgbClr val="1A365D"/>
                </a:solidFill>
              </a:defRPr>
            </a:pPr>
            <a:r>
              <a:t>•  Benchmarking, Graphing &amp; Report Authoring: </a:t>
            </a:r>
            <a:r>
              <a:rPr b="0">
                <a:solidFill>
                  <a:srgbClr val="2D3748"/>
                </a:solidFill>
              </a:rPr>
              <a:t>Execution of 135 benchmark runs, Matplotlib plotting script, IEEE &amp; Springer conference reports, and presentation slide synthesis.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182CE"/>
                </a:solidFill>
              </a:defRPr>
            </a:pPr>
            <a:r>
              <a:t>PARALLEL COMPUTING ARCHITECTURE PROGRAMMING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Conclusion &amp;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1A365D"/>
                </a:solidFill>
              </a:defRPr>
            </a:pPr>
            <a:r>
              <a:t>Project Summary &amp; Key Milestones Achieved:</a:t>
            </a:r>
          </a:p>
          <a:p>
            <a:pPr>
              <a:spcBef>
                <a:spcPts val="600"/>
              </a:spcBef>
              <a:defRPr b="1" sz="1200">
                <a:solidFill>
                  <a:srgbClr val="3182CE"/>
                </a:solidFill>
              </a:defRPr>
            </a:pPr>
            <a:r>
              <a:t>•  Full 3+1 Backend Simulator Complete: </a:t>
            </a:r>
            <a:r>
              <a:rPr b="0">
                <a:solidFill>
                  <a:srgbClr val="2D3748"/>
                </a:solidFill>
              </a:rPr>
              <a:t>Built Sequential, OpenMP, MPI, and Hybrid engines in native C with zero external runtime dependencies.</a:t>
            </a:r>
          </a:p>
          <a:p>
            <a:pPr>
              <a:spcBef>
                <a:spcPts val="600"/>
              </a:spcBef>
              <a:defRPr b="1" sz="1200">
                <a:solidFill>
                  <a:srgbClr val="3182CE"/>
                </a:solidFill>
              </a:defRPr>
            </a:pPr>
            <a:r>
              <a:t>•  2.92x Empirical Speedup: </a:t>
            </a:r>
            <a:r>
              <a:rPr b="0">
                <a:solidFill>
                  <a:srgbClr val="2D3748"/>
                </a:solidFill>
              </a:rPr>
              <a:t>Demonstrated that distributed-partition MPI scales effectively for 10,000 servers on Apple Silicon multi-core hardware.</a:t>
            </a:r>
          </a:p>
          <a:p>
            <a:pPr>
              <a:spcBef>
                <a:spcPts val="600"/>
              </a:spcBef>
              <a:defRPr b="1" sz="1200">
                <a:solidFill>
                  <a:srgbClr val="3182CE"/>
                </a:solidFill>
              </a:defRPr>
            </a:pPr>
            <a:r>
              <a:t>•  54.7% Latency Advantage: </a:t>
            </a:r>
            <a:r>
              <a:rPr b="0">
                <a:solidFill>
                  <a:srgbClr val="2D3748"/>
                </a:solidFill>
              </a:rPr>
              <a:t>Proved that Scored allocation significantly outperforms First-Fit heuristics in user QoE network latency.</a:t>
            </a:r>
          </a:p>
          <a:p>
            <a:pPr>
              <a:spcBef>
                <a:spcPts val="600"/>
              </a:spcBef>
              <a:defRPr b="1" sz="1200">
                <a:solidFill>
                  <a:srgbClr val="3182CE"/>
                </a:solidFill>
              </a:defRPr>
            </a:pPr>
            <a:r>
              <a:t>•  100% Cross-Backend Equivalence: </a:t>
            </a:r>
            <a:r>
              <a:rPr b="0">
                <a:solidFill>
                  <a:srgbClr val="2D3748"/>
                </a:solidFill>
              </a:rPr>
              <a:t>Passed all 12 correctness gates with identical decision logs across all modes.</a:t>
            </a:r>
          </a:p>
          <a:p>
            <a:pPr>
              <a:spcBef>
                <a:spcPts val="600"/>
              </a:spcBef>
              <a:defRPr b="1" sz="1200">
                <a:solidFill>
                  <a:srgbClr val="3182CE"/>
                </a:solidFill>
              </a:defRPr>
            </a:pPr>
            <a:r>
              <a:t>•  Academic Deliverables Prepared: </a:t>
            </a:r>
            <a:r>
              <a:rPr b="0">
                <a:solidFill>
                  <a:srgbClr val="2D3748"/>
                </a:solidFill>
              </a:rPr>
              <a:t>Full literature survey (10 papers), IEEE conference draft, and Springer Nature conference draft completed.</a:t>
            </a:r>
          </a:p>
          <a:p>
            <a:br/>
            <a:pPr>
              <a:defRPr sz="1200" b="1">
                <a:solidFill>
                  <a:srgbClr val="1A365D"/>
                </a:solidFill>
              </a:defRPr>
            </a:pPr>
            <a:r>
              <a:t>Future Work: 1) Physical multi-node cluster benchmarking across InfiniBand; 2) Request batching to reduce MPI collective frequency; 3) GPU acceleration with CUDA/OpenACC.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